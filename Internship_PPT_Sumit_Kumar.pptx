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13716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FFFFFF"/>
                </a:solidFill>
                <a:latin typeface="Calibri"/>
              </a:rPr>
              <a:t>AI-ML Virtual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28C28"/>
                </a:solidFill>
                <a:latin typeface="Calibri"/>
              </a:rPr>
              <a:t>AI-Powered Product Image Search &amp; Classification App using TensorFlow 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STUDENT: Sumit Kumar   |   ROLL NUMBER: CS-234111584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PROGRAM: B.Tech CSE (AIML)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HOST ORGANIZATION: EduSkills Foundation (AICTE), supported by Google for Developers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APRIL –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• Introduction — Internship overview &amp; curriculum structure</a:t>
            </a:r>
          </a:p>
          <a:p>
            <a:r>
              <a:rPr sz="1800" b="0">
                <a:solidFill>
                  <a:srgbClr val="222222"/>
                </a:solidFill>
              </a:rPr>
              <a:t>• Organization Profile — AICTE, EduSkills Foundation &amp; Google for Developers</a:t>
            </a:r>
          </a:p>
          <a:p>
            <a:r>
              <a:rPr sz="1800" b="0">
                <a:solidFill>
                  <a:srgbClr val="222222"/>
                </a:solidFill>
              </a:rPr>
              <a:t>• Problem Statement — Why visual product search is needed</a:t>
            </a:r>
          </a:p>
          <a:p>
            <a:r>
              <a:rPr sz="1800" b="0">
                <a:solidFill>
                  <a:srgbClr val="222222"/>
                </a:solidFill>
              </a:rPr>
              <a:t>• Objectives &amp; Scope — Goals and boundaries of the project</a:t>
            </a:r>
          </a:p>
          <a:p>
            <a:r>
              <a:rPr sz="1800" b="0">
                <a:solidFill>
                  <a:srgbClr val="222222"/>
                </a:solidFill>
              </a:rPr>
              <a:t>• Technologies Used — TensorFlow, TFLite, Model Maker and toolchain</a:t>
            </a:r>
          </a:p>
          <a:p>
            <a:r>
              <a:rPr sz="1800" b="0">
                <a:solidFill>
                  <a:srgbClr val="222222"/>
                </a:solidFill>
              </a:rPr>
              <a:t>• System Architecture — How the app is structured</a:t>
            </a:r>
          </a:p>
          <a:p>
            <a:r>
              <a:rPr sz="1800" b="0">
                <a:solidFill>
                  <a:srgbClr val="222222"/>
                </a:solidFill>
              </a:rPr>
              <a:t>• Methodology — Week-wise plan &amp; step-wise pipeline</a:t>
            </a:r>
          </a:p>
          <a:p>
            <a:r>
              <a:rPr sz="1800" b="0">
                <a:solidFill>
                  <a:srgbClr val="222222"/>
                </a:solidFill>
              </a:rPr>
              <a:t>• Outcomes &amp; Results — Model performance and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Introduction — An 8-Week Journey into Applied ML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</a:rPr>
              <a:t>• 10-week… no — 8-week AI-ML Virtual Internship (April–June 2026), conducted under AICTE and the National Internship Portal, supported by the India Edu Program and Google for Developers.</a:t>
            </a:r>
          </a:p>
          <a:p>
            <a:r>
              <a:rPr sz="1700" b="0">
                <a:solidFill>
                  <a:srgbClr val="222222"/>
                </a:solidFill>
              </a:rPr>
              <a:t>• The program built a progressive understanding of applied machine learning — from programming neural networks with TensorFlow to on-device object detection, product image search and custom image classification.</a:t>
            </a:r>
          </a:p>
          <a:p>
            <a:r>
              <a:rPr sz="1700" b="0">
                <a:solidFill>
                  <a:srgbClr val="222222"/>
                </a:solidFill>
              </a:rPr>
              <a:t>• Learnings were consolidated into a single project: an AI-Powered Product Image Search &amp; Classification App, directly mapping to the eight weekly modules.</a:t>
            </a:r>
          </a:p>
          <a:p>
            <a:r>
              <a:rPr sz="1700" b="0">
                <a:solidFill>
                  <a:srgbClr val="222222"/>
                </a:solidFill>
              </a:rPr>
              <a:t>• Completed with an overall grade of A (Very Good).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Organization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22222"/>
                </a:solidFill>
              </a:rPr>
              <a:t>• EduSkills Foundation</a:t>
            </a:r>
          </a:p>
          <a:p>
            <a:r>
              <a:rPr sz="1500" b="0">
                <a:solidFill>
                  <a:srgbClr val="222222"/>
                </a:solidFill>
              </a:rPr>
              <a:t>• Section-8 not-for-profit bridging academia &amp; industry through virtual internships, in partnership with AICTE.</a:t>
            </a:r>
          </a:p>
          <a:p>
            <a:r>
              <a:rPr sz="1500" b="0">
                <a:solidFill>
                  <a:srgbClr val="222222"/>
                </a:solidFill>
              </a:rPr>
              <a:t>• Certified ISO 9001:2015 &amp; ISO 21001:2018 — recognized as a Great Place to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22222"/>
                </a:solidFill>
              </a:rPr>
              <a:t>• Google for Developers / India Edu Program</a:t>
            </a:r>
          </a:p>
          <a:p>
            <a:r>
              <a:rPr sz="1500" b="0">
                <a:solidFill>
                  <a:srgbClr val="222222"/>
                </a:solidFill>
              </a:rPr>
              <a:t>• Google's global developer program providing free ML learning paths, codelabs and TensorFlow content.</a:t>
            </a:r>
          </a:p>
          <a:p>
            <a:r>
              <a:rPr sz="1500" b="0">
                <a:solidFill>
                  <a:srgbClr val="222222"/>
                </a:solidFill>
              </a:rPr>
              <a:t>• Supported the AI-ML curriculum with hands-on, certification-ready labs.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Problem Statement — Text Search Doesn't Fit Visual Needs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</a:rPr>
              <a:t>• Typing exact product names is slow and fails when the user doesn't know what the product is called.</a:t>
            </a:r>
          </a:p>
          <a:p>
            <a:r>
              <a:rPr sz="1700" b="0">
                <a:solidFill>
                  <a:srgbClr val="222222"/>
                </a:solidFill>
              </a:rPr>
              <a:t>• Cloud inference for every query is expensive, adds latency, and sends user images off-device — a privacy concern.</a:t>
            </a:r>
          </a:p>
          <a:p>
            <a:r>
              <a:rPr sz="1700" b="1">
                <a:solidFill>
                  <a:srgbClr val="1F3A5F"/>
                </a:solidFill>
              </a:rPr>
              <a:t>THE NEED</a:t>
            </a:r>
          </a:p>
          <a:p>
            <a:r>
              <a:rPr sz="1700" b="0">
                <a:solidFill>
                  <a:srgbClr val="222222"/>
                </a:solidFill>
              </a:rPr>
              <a:t>• A simple, fast, privacy-friendly system that detects and classifies products directly on the mobile device from a live camera feed, and visually matches them against a product catalogue.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Project Objectives — Six Goals Guiding the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</a:rPr>
              <a:t>• Program and train neural networks from first principles using TensorFlow, up to CNNs for image recognition.</a:t>
            </a:r>
          </a:p>
          <a:p>
            <a:r>
              <a:rPr sz="1700" b="0">
                <a:solidFill>
                  <a:srgbClr val="222222"/>
                </a:solidFill>
              </a:rPr>
              <a:t>• Implement object detection using pretrained detectors integrated into a mobile app.</a:t>
            </a:r>
          </a:p>
          <a:p>
            <a:r>
              <a:rPr sz="1700" b="0">
                <a:solidFill>
                  <a:srgbClr val="222222"/>
                </a:solidFill>
              </a:rPr>
              <a:t>• Train a custom object-detection model using TensorFlow Lite and Model Maker.</a:t>
            </a:r>
          </a:p>
          <a:p>
            <a:r>
              <a:rPr sz="1700" b="0">
                <a:solidFill>
                  <a:srgbClr val="222222"/>
                </a:solidFill>
              </a:rPr>
              <a:t>• Build a product image search feature using on-device object detection on static images and live camera feeds.</a:t>
            </a:r>
          </a:p>
          <a:p>
            <a:r>
              <a:rPr sz="1700" b="0">
                <a:solidFill>
                  <a:srgbClr val="222222"/>
                </a:solidFill>
              </a:rPr>
              <a:t>• Train a custom image classifier with transfer learning and integrate it into the app.</a:t>
            </a:r>
          </a:p>
          <a:p>
            <a:r>
              <a:rPr sz="1700" b="0">
                <a:solidFill>
                  <a:srgbClr val="222222"/>
                </a:solidFill>
              </a:rPr>
              <a:t>• Keep the solution simple and understandable, while touching every stage of the curriculum.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Scope of the Project — What's In and What's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22222"/>
                </a:solidFill>
              </a:rPr>
              <a:t>• IN SCOPE</a:t>
            </a:r>
          </a:p>
          <a:p>
            <a:r>
              <a:rPr sz="1500" b="0">
                <a:solidFill>
                  <a:srgbClr val="222222"/>
                </a:solidFill>
              </a:rPr>
              <a:t>• Training a custom image classifier on a small sample product dataset (transfer learning).</a:t>
            </a:r>
          </a:p>
          <a:p>
            <a:r>
              <a:rPr sz="1500" b="0">
                <a:solidFill>
                  <a:srgbClr val="222222"/>
                </a:solidFill>
              </a:rPr>
              <a:t>• On-device object detection and classification with TensorFlow Lite.</a:t>
            </a:r>
          </a:p>
          <a:p>
            <a:r>
              <a:rPr sz="1500" b="0">
                <a:solidFill>
                  <a:srgbClr val="222222"/>
                </a:solidFill>
              </a:rPr>
              <a:t>• Visual matching against a small reference product catalogue.</a:t>
            </a:r>
          </a:p>
          <a:p>
            <a:r>
              <a:rPr sz="1500" b="0">
                <a:solidFill>
                  <a:srgbClr val="222222"/>
                </a:solidFill>
              </a:rPr>
              <a:t>• Prototype Android app built and demonstrated during the internship.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22222"/>
                </a:solidFill>
              </a:rPr>
              <a:t>• OUT OF SCOPE</a:t>
            </a:r>
          </a:p>
          <a:p>
            <a:r>
              <a:rPr sz="1500" b="0">
                <a:solidFill>
                  <a:srgbClr val="222222"/>
                </a:solidFill>
              </a:rPr>
              <a:t>• ✗ Full-scale, production-grade deployment.</a:t>
            </a:r>
          </a:p>
          <a:p>
            <a:r>
              <a:rPr sz="1500" b="0">
                <a:solidFill>
                  <a:srgbClr val="222222"/>
                </a:solidFill>
              </a:rPr>
              <a:t>• ✗ Large real-world catalogues beyond the demo set.</a:t>
            </a:r>
          </a:p>
          <a:p>
            <a:r>
              <a:rPr sz="1500" b="0">
                <a:solidFill>
                  <a:srgbClr val="222222"/>
                </a:solidFill>
              </a:rPr>
              <a:t>• ✗ Enterprise backend, security or scaling infrastructure.</a:t>
            </a:r>
          </a:p>
          <a:p>
            <a:r>
              <a:rPr sz="1500" b="0">
                <a:solidFill>
                  <a:srgbClr val="222222"/>
                </a:solidFill>
              </a:rPr>
              <a:t>• ✗ Integration with live e-commerce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Technologies &amp; Tools — The TensorFlow-Powered Toolchain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329184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TensorFlow / Keras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1143000"/>
            <a:ext cx="7315200" cy="658368"/>
          </a:xfrm>
          <a:prstGeom prst="rect">
            <a:avLst/>
          </a:prstGeom>
          <a:solidFill>
            <a:srgbClr val="EA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252728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Train neural-network &amp; classification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84248"/>
            <a:ext cx="329184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TensorFlow Lite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984248"/>
            <a:ext cx="7315200" cy="658368"/>
          </a:xfrm>
          <a:prstGeom prst="rect">
            <a:avLst/>
          </a:prstGeom>
          <a:solidFill>
            <a:srgbClr val="EA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093976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On-device inference in the mobile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25496"/>
            <a:ext cx="329184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169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TFLite Model Maker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2825496"/>
            <a:ext cx="7315200" cy="658368"/>
          </a:xfrm>
          <a:prstGeom prst="rect">
            <a:avLst/>
          </a:prstGeom>
          <a:solidFill>
            <a:srgbClr val="EA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935224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Custom object detection via transfer 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66744"/>
            <a:ext cx="329184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58183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Google Colab + Python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3666744"/>
            <a:ext cx="7315200" cy="658368"/>
          </a:xfrm>
          <a:prstGeom prst="rect">
            <a:avLst/>
          </a:prstGeom>
          <a:solidFill>
            <a:srgbClr val="EA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3776472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Training, evaluation &amp; scripting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507992"/>
            <a:ext cx="329184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99431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Android Studio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507992"/>
            <a:ext cx="7315200" cy="658368"/>
          </a:xfrm>
          <a:prstGeom prst="rect">
            <a:avLst/>
          </a:prstGeom>
          <a:solidFill>
            <a:srgbClr val="EA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61772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App front-end, camera &amp; result display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49240"/>
            <a:ext cx="329184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7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EfficientDet-Lite / MobileNet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5349240"/>
            <a:ext cx="7315200" cy="658368"/>
          </a:xfrm>
          <a:prstGeom prst="rect">
            <a:avLst/>
          </a:prstGeom>
          <a:solidFill>
            <a:srgbClr val="EA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5458968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22222"/>
                </a:solidFill>
                <a:latin typeface="Calibri"/>
              </a:rPr>
              <a:t>Fast pretrained detection &amp; classification bases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System Architecture — A Simple, Linear On-Device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057400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Camera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2402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>
                <a:solidFill>
                  <a:srgbClr val="1F3A5F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828800"/>
            <a:ext cx="2057400" cy="1371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205740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Object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Detection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(TFLite)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22402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>
                <a:solidFill>
                  <a:srgbClr val="1F3A5F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8656" y="1828800"/>
            <a:ext cx="2057400" cy="1371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0096" y="205740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Classification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(Custom TFLite)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6056" y="22402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>
                <a:solidFill>
                  <a:srgbClr val="1F3A5F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44383" y="1828800"/>
            <a:ext cx="2057400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3" y="205740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Catalogue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01784" y="22402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>
                <a:solidFill>
                  <a:srgbClr val="1F3A5F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40112" y="1828800"/>
            <a:ext cx="2057400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31552" y="205740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Results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Displayed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222222"/>
                </a:solidFill>
                <a:latin typeface="Calibri"/>
              </a:rPr>
              <a:t>A camera frame is localized by a TFLite object detector; each region is classified by a custom TFLite image classifier; the predicted category and visual features are matched against the app's product catalogue, and ranked results are displayed — all inference on-device, fast and private.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Methodology — Week-Wise Structure of the Internship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</a:rPr>
              <a:t>Neural Networks &amp; Object Detection (Weeks 1–3)</a:t>
            </a:r>
          </a:p>
          <a:p>
            <a:r>
              <a:rPr sz="1400" b="0">
                <a:solidFill>
                  <a:srgbClr val="222222"/>
                </a:solidFill>
              </a:rPr>
              <a:t>• W1: Program neural networks with TensorFlow — first principles to CNNs.</a:t>
            </a:r>
          </a:p>
          <a:p>
            <a:r>
              <a:rPr sz="1400" b="0">
                <a:solidFill>
                  <a:srgbClr val="222222"/>
                </a:solidFill>
              </a:rPr>
              <a:t>• W2: Get started with object detection — pretrained detectors in mobile apps.</a:t>
            </a:r>
          </a:p>
          <a:p>
            <a:r>
              <a:rPr sz="1400" b="0">
                <a:solidFill>
                  <a:srgbClr val="222222"/>
                </a:solidFill>
              </a:rPr>
              <a:t>• W3: Go further — custom detection with TFLite &amp; Model Maker.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4300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</a:rPr>
              <a:t>Product Image Search (Weeks 4–6)</a:t>
            </a:r>
          </a:p>
          <a:p>
            <a:r>
              <a:rPr sz="1400" b="0">
                <a:solidFill>
                  <a:srgbClr val="222222"/>
                </a:solidFill>
              </a:rPr>
              <a:t>• W4–5: On-device product image search — static images &amp; live camera feeds.</a:t>
            </a:r>
          </a:p>
          <a:p>
            <a:r>
              <a:rPr sz="1400" b="0">
                <a:solidFill>
                  <a:srgbClr val="222222"/>
                </a:solidFill>
              </a:rPr>
              <a:t>• W6: Backend integration for the search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61188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</a:rPr>
              <a:t>Image Classification (Weeks 7–8)</a:t>
            </a:r>
          </a:p>
          <a:p>
            <a:r>
              <a:rPr sz="1400" b="0">
                <a:solidFill>
                  <a:srgbClr val="222222"/>
                </a:solidFill>
              </a:rPr>
              <a:t>• W7: Custom image-classification models.</a:t>
            </a:r>
          </a:p>
          <a:p>
            <a:r>
              <a:rPr sz="1400" b="0">
                <a:solidFill>
                  <a:srgbClr val="222222"/>
                </a:solidFill>
              </a:rPr>
              <a:t>• W8: Integrate the custom classifier into the app.</a:t>
            </a:r>
          </a:p>
          <a:p>
            <a:r>
              <a:rPr sz="1400" b="0">
                <a:solidFill>
                  <a:srgbClr val="222222"/>
                </a:solidFill>
              </a:rPr>
              <a:t>• Final: Credential Validation &amp; Grade Assessment.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The Project — A Six-Step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0" y="1188720"/>
            <a:ext cx="5943600" cy="62179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12801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1. Collect product-image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993392"/>
            <a:ext cx="5943600" cy="6217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08483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2. Train classifier (transfer learning)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2798064"/>
            <a:ext cx="5943600" cy="62179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88950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3. Convert model to TFLite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3602736"/>
            <a:ext cx="5943600" cy="6217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3694176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4. On-device object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4407408"/>
            <a:ext cx="5943600" cy="62179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449884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5. Classify &amp; match catalogue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5212080"/>
            <a:ext cx="5943600" cy="6217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53035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Calibri"/>
              </a:rPr>
              <a:t>6. Display ranked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80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22222"/>
                </a:solidFill>
                <a:latin typeface="Calibri"/>
              </a:rPr>
              <a:t>Weekly assessments tracked progress; the final grade combined weekly work, project submissions and the final assessment.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Outcomes &amp; Results — Model Performance and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697480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28C28"/>
                </a:solidFill>
                <a:latin typeface="Calibri"/>
              </a:rPr>
              <a:t>93.5%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Classification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188720"/>
            <a:ext cx="2697480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37160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28C28"/>
                </a:solidFill>
                <a:latin typeface="Calibri"/>
              </a:rPr>
              <a:t>0.92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1488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2697480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37160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28C28"/>
                </a:solidFill>
                <a:latin typeface="Calibri"/>
              </a:rPr>
              <a:t>0.91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1488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Recall /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188720"/>
            <a:ext cx="2697480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137160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28C28"/>
                </a:solidFill>
                <a:latin typeface="Calibri"/>
              </a:rPr>
              <a:t>&lt;150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21488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On-device Inference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22222"/>
                </a:solidFill>
              </a:rPr>
              <a:t>• End-to-end applied ML experience — data prep, training, TFLite conversion and on-device deployment.</a:t>
            </a:r>
          </a:p>
          <a:p>
            <a:r>
              <a:rPr sz="1500" b="0">
                <a:solidFill>
                  <a:srgbClr val="222222"/>
                </a:solidFill>
              </a:rPr>
              <a:t>• Practical skills: transfer learning, Model Maker, mobile camera integration.</a:t>
            </a:r>
          </a:p>
          <a:p>
            <a:r>
              <a:rPr sz="1500" b="0">
                <a:solidFill>
                  <a:srgbClr val="222222"/>
                </a:solidFill>
              </a:rPr>
              <a:t>• A working product image search &amp; classification app prototype.</a:t>
            </a:r>
          </a:p>
          <a:p>
            <a:r>
              <a:rPr sz="1500" b="0">
                <a:solidFill>
                  <a:srgbClr val="222222"/>
                </a:solidFill>
              </a:rPr>
              <a:t>• Awareness of on-device AI benefits: low latency, offline use, user privacy.</a:t>
            </a:r>
          </a:p>
          <a:p>
            <a:r>
              <a:rPr sz="1500" b="0">
                <a:solidFill>
                  <a:srgbClr val="222222"/>
                </a:solidFill>
              </a:rPr>
              <a:t>• Completed the AICTE – EduSkills AI-ML Virtual Internship with grade A (Very Good).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13716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>
                <a:solidFill>
                  <a:srgbClr val="FFFFFF"/>
                </a:solidFill>
                <a:latin typeface="Calibri"/>
              </a:rPr>
              <a:t>Successfully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F28C28"/>
                </a:solidFill>
                <a:latin typeface="Calibri"/>
              </a:rPr>
              <a:t>AICTE – EduSkills AI-ML Virtual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  <a:latin typeface="Calibri"/>
              </a:rPr>
              <a:t>Overall Grade: A — Very Good</a:t>
            </a:r>
          </a:p>
          <a:p>
            <a:pPr algn="ctr"/>
            <a:r>
              <a:rPr sz="1800">
                <a:solidFill>
                  <a:srgbClr val="FFFFFF"/>
                </a:solidFill>
                <a:latin typeface="Calibri"/>
              </a:rPr>
              <a:t>Certificate ID: 478b80131b258f6e5f86</a:t>
            </a:r>
          </a:p>
          <a:p>
            <a:pPr algn="ctr"/>
            <a:r>
              <a:rPr sz="1800">
                <a:solidFill>
                  <a:srgbClr val="FFFFFF"/>
                </a:solidFill>
                <a:latin typeface="Calibri"/>
              </a:rPr>
              <a:t>Duration: April – June 2026 (8 Weeks)</a:t>
            </a:r>
          </a:p>
          <a:p>
            <a:pPr algn="ctr"/>
          </a:p>
          <a:p>
            <a:pPr algn="ctr"/>
            <a:r>
              <a:rPr sz="180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pic>
        <p:nvPicPr>
          <p:cNvPr id="7" name="Picture 6" descr="signatur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5440680"/>
            <a:ext cx="1554480" cy="15334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